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Times New Roman Bold" panose="02020803070505020304" pitchFamily="18" charset="0"/>
      <p:regular r:id="rId11"/>
      <p:bold r:id="rId12"/>
    </p:embeddedFont>
    <p:embeddedFont>
      <p:font typeface="Calibri" panose="020F0502020204030204" pitchFamily="34" charset="0"/>
      <p:regular r:id="rId13"/>
      <p:bold r:id="rId14"/>
      <p:italic r:id="rId15"/>
      <p:boldItalic r:id="rId16"/>
    </p:embeddedFont>
    <p:embeddedFont>
      <p:font typeface="Poppins Semi-Bold" panose="020B0604020202020204" charset="0"/>
      <p:regular r:id="rId17"/>
    </p:embeddedFont>
    <p:embeddedFont>
      <p:font typeface="Times New Roman" panose="02020603050405020304" pitchFamily="18"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411ED00-C181-43EA-A411-2A25FE869508}">
          <p14:sldIdLst>
            <p14:sldId id="256"/>
            <p14:sldId id="257"/>
            <p14:sldId id="258"/>
            <p14:sldId id="259"/>
            <p14:sldId id="260"/>
            <p14:sldId id="261"/>
            <p14:sldId id="262"/>
            <p14:sldId id="263"/>
          </p14:sldIdLst>
        </p14:section>
        <p14:section name="Untitled Section" id="{AD3B565B-CDBD-46D3-9BA0-EDD41D86FF81}">
          <p14:sldIdLst>
            <p14:sldId id="26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28" d="100"/>
          <a:sy n="28" d="100"/>
        </p:scale>
        <p:origin x="966"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jp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4.png"/><Relationship Id="rId9" Type="http://schemas.openxmlformats.org/officeDocument/2006/relationships/hyperlink" Target="https://www.kapwing.com/videos/681219564a44569c075d722d"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6214197" y="219683"/>
            <a:ext cx="5292017" cy="1678847"/>
          </a:xfrm>
          <a:custGeom>
            <a:avLst/>
            <a:gdLst/>
            <a:ahLst/>
            <a:cxnLst/>
            <a:rect l="l" t="t" r="r" b="b"/>
            <a:pathLst>
              <a:path w="5292017" h="1678847">
                <a:moveTo>
                  <a:pt x="0" y="0"/>
                </a:moveTo>
                <a:lnTo>
                  <a:pt x="5292017" y="0"/>
                </a:lnTo>
                <a:lnTo>
                  <a:pt x="5292017" y="1678846"/>
                </a:lnTo>
                <a:lnTo>
                  <a:pt x="0" y="1678846"/>
                </a:lnTo>
                <a:lnTo>
                  <a:pt x="0" y="0"/>
                </a:lnTo>
                <a:close/>
              </a:path>
            </a:pathLst>
          </a:custGeom>
          <a:blipFill>
            <a:blip r:embed="rId2"/>
            <a:stretch>
              <a:fillRect/>
            </a:stretch>
          </a:blipFill>
        </p:spPr>
      </p:sp>
      <p:sp>
        <p:nvSpPr>
          <p:cNvPr id="4" name="Freeform 4"/>
          <p:cNvSpPr/>
          <p:nvPr/>
        </p:nvSpPr>
        <p:spPr>
          <a:xfrm>
            <a:off x="2274368" y="302299"/>
            <a:ext cx="3042518" cy="1452802"/>
          </a:xfrm>
          <a:custGeom>
            <a:avLst/>
            <a:gdLst/>
            <a:ahLst/>
            <a:cxnLst/>
            <a:rect l="l" t="t" r="r" b="b"/>
            <a:pathLst>
              <a:path w="3042518" h="1452802">
                <a:moveTo>
                  <a:pt x="0" y="0"/>
                </a:moveTo>
                <a:lnTo>
                  <a:pt x="3042518" y="0"/>
                </a:lnTo>
                <a:lnTo>
                  <a:pt x="3042518" y="1452802"/>
                </a:lnTo>
                <a:lnTo>
                  <a:pt x="0" y="1452802"/>
                </a:lnTo>
                <a:lnTo>
                  <a:pt x="0" y="0"/>
                </a:lnTo>
                <a:close/>
              </a:path>
            </a:pathLst>
          </a:custGeom>
          <a:blipFill>
            <a:blip r:embed="rId3"/>
            <a:stretch>
              <a:fillRect/>
            </a:stretch>
          </a:blipFill>
        </p:spPr>
      </p:sp>
      <p:sp>
        <p:nvSpPr>
          <p:cNvPr id="5" name="Freeform 5"/>
          <p:cNvSpPr/>
          <p:nvPr/>
        </p:nvSpPr>
        <p:spPr>
          <a:xfrm>
            <a:off x="13119591" y="302299"/>
            <a:ext cx="1868213" cy="1868213"/>
          </a:xfrm>
          <a:custGeom>
            <a:avLst/>
            <a:gdLst/>
            <a:ahLst/>
            <a:cxnLst/>
            <a:rect l="l" t="t" r="r" b="b"/>
            <a:pathLst>
              <a:path w="1868213" h="1868213">
                <a:moveTo>
                  <a:pt x="0" y="0"/>
                </a:moveTo>
                <a:lnTo>
                  <a:pt x="1868213" y="0"/>
                </a:lnTo>
                <a:lnTo>
                  <a:pt x="1868213" y="1868213"/>
                </a:lnTo>
                <a:lnTo>
                  <a:pt x="0" y="1868213"/>
                </a:lnTo>
                <a:lnTo>
                  <a:pt x="0" y="0"/>
                </a:lnTo>
                <a:close/>
              </a:path>
            </a:pathLst>
          </a:custGeom>
          <a:blipFill>
            <a:blip r:embed="rId4"/>
            <a:stretch>
              <a:fillRect/>
            </a:stretch>
          </a:blipFill>
        </p:spPr>
      </p:sp>
      <p:sp>
        <p:nvSpPr>
          <p:cNvPr id="6" name="TextBox 6"/>
          <p:cNvSpPr txBox="1"/>
          <p:nvPr/>
        </p:nvSpPr>
        <p:spPr>
          <a:xfrm>
            <a:off x="3178433" y="3929696"/>
            <a:ext cx="13814167" cy="4847481"/>
          </a:xfrm>
          <a:prstGeom prst="rect">
            <a:avLst/>
          </a:prstGeom>
        </p:spPr>
        <p:txBody>
          <a:bodyPr wrap="square" lIns="0" tIns="0" rIns="0" bIns="0" rtlCol="0" anchor="t">
            <a:spAutoFit/>
          </a:bodyPr>
          <a:lstStyle/>
          <a:p>
            <a:pPr algn="just">
              <a:lnSpc>
                <a:spcPts val="5426"/>
              </a:lnSpc>
            </a:pPr>
            <a:endParaRPr sz="2400" dirty="0"/>
          </a:p>
          <a:p>
            <a:pPr algn="just">
              <a:lnSpc>
                <a:spcPts val="5426"/>
              </a:lnSpc>
            </a:pPr>
            <a:r>
              <a:rPr lang="en-US" sz="2400" b="1" dirty="0">
                <a:solidFill>
                  <a:srgbClr val="000000"/>
                </a:solidFill>
                <a:latin typeface="Poppins Semi-Bold"/>
                <a:ea typeface="Poppins Semi-Bold"/>
                <a:cs typeface="Poppins Semi-Bold"/>
                <a:sym typeface="Poppins Semi-Bold"/>
              </a:rPr>
              <a:t>•</a:t>
            </a:r>
            <a:r>
              <a:rPr lang="en-US" sz="3200" b="1" dirty="0">
                <a:solidFill>
                  <a:srgbClr val="000000"/>
                </a:solidFill>
                <a:latin typeface="Poppins Semi-Bold"/>
                <a:ea typeface="Poppins Semi-Bold"/>
                <a:cs typeface="Poppins Semi-Bold"/>
                <a:sym typeface="Poppins Semi-Bold"/>
              </a:rPr>
              <a:t>Problem Statement Title </a:t>
            </a:r>
            <a:r>
              <a:rPr lang="en-US" sz="3200" b="1" dirty="0" smtClean="0">
                <a:solidFill>
                  <a:srgbClr val="000000"/>
                </a:solidFill>
                <a:latin typeface="Poppins Semi-Bold"/>
                <a:ea typeface="Poppins Semi-Bold"/>
                <a:cs typeface="Poppins Semi-Bold"/>
                <a:sym typeface="Poppins Semi-Bold"/>
              </a:rPr>
              <a:t>–WOMEN SAFETY AND AWARENESS</a:t>
            </a:r>
            <a:endParaRPr lang="en-US" sz="3200" b="1" dirty="0">
              <a:solidFill>
                <a:srgbClr val="000000"/>
              </a:solidFill>
              <a:latin typeface="Poppins Semi-Bold"/>
              <a:ea typeface="Poppins Semi-Bold"/>
              <a:cs typeface="Poppins Semi-Bold"/>
              <a:sym typeface="Poppins Semi-Bold"/>
            </a:endParaRPr>
          </a:p>
          <a:p>
            <a:pPr algn="just">
              <a:lnSpc>
                <a:spcPts val="5426"/>
              </a:lnSpc>
            </a:pPr>
            <a:r>
              <a:rPr lang="en-US" sz="3200" b="1" dirty="0">
                <a:solidFill>
                  <a:srgbClr val="000000"/>
                </a:solidFill>
                <a:latin typeface="Poppins Semi-Bold"/>
                <a:ea typeface="Poppins Semi-Bold"/>
                <a:cs typeface="Poppins Semi-Bold"/>
                <a:sym typeface="Poppins Semi-Bold"/>
              </a:rPr>
              <a:t>•Theme </a:t>
            </a:r>
            <a:r>
              <a:rPr lang="en-US" sz="3200" b="1" dirty="0" smtClean="0">
                <a:solidFill>
                  <a:srgbClr val="000000"/>
                </a:solidFill>
                <a:latin typeface="Poppins Semi-Bold"/>
                <a:ea typeface="Poppins Semi-Bold"/>
                <a:cs typeface="Poppins Semi-Bold"/>
                <a:sym typeface="Poppins Semi-Bold"/>
              </a:rPr>
              <a:t>–WOMEN AWARENESS</a:t>
            </a:r>
            <a:endParaRPr lang="en-US" sz="3200" b="1" dirty="0">
              <a:solidFill>
                <a:srgbClr val="000000"/>
              </a:solidFill>
              <a:latin typeface="Poppins Semi-Bold"/>
              <a:ea typeface="Poppins Semi-Bold"/>
              <a:cs typeface="Poppins Semi-Bold"/>
              <a:sym typeface="Poppins Semi-Bold"/>
            </a:endParaRPr>
          </a:p>
          <a:p>
            <a:pPr algn="just">
              <a:lnSpc>
                <a:spcPts val="5426"/>
              </a:lnSpc>
            </a:pPr>
            <a:r>
              <a:rPr lang="en-US" sz="3200" b="1" dirty="0">
                <a:solidFill>
                  <a:srgbClr val="000000"/>
                </a:solidFill>
                <a:latin typeface="Poppins Semi-Bold"/>
                <a:ea typeface="Poppins Semi-Bold"/>
                <a:cs typeface="Poppins Semi-Bold"/>
                <a:sym typeface="Poppins Semi-Bold"/>
              </a:rPr>
              <a:t>•Team ID </a:t>
            </a:r>
            <a:r>
              <a:rPr lang="en-US" sz="3200" b="1" dirty="0" smtClean="0">
                <a:solidFill>
                  <a:srgbClr val="000000"/>
                </a:solidFill>
                <a:latin typeface="Poppins Semi-Bold"/>
                <a:ea typeface="Poppins Semi-Bold"/>
                <a:cs typeface="Poppins Semi-Bold"/>
                <a:sym typeface="Poppins Semi-Bold"/>
              </a:rPr>
              <a:t>–CCCM013</a:t>
            </a:r>
            <a:endParaRPr lang="en-US" sz="3200" b="1" dirty="0">
              <a:solidFill>
                <a:srgbClr val="000000"/>
              </a:solidFill>
              <a:latin typeface="Poppins Semi-Bold"/>
              <a:ea typeface="Poppins Semi-Bold"/>
              <a:cs typeface="Poppins Semi-Bold"/>
              <a:sym typeface="Poppins Semi-Bold"/>
            </a:endParaRPr>
          </a:p>
          <a:p>
            <a:pPr algn="just">
              <a:lnSpc>
                <a:spcPts val="5426"/>
              </a:lnSpc>
            </a:pPr>
            <a:r>
              <a:rPr lang="en-US" sz="3200" b="1" dirty="0">
                <a:solidFill>
                  <a:srgbClr val="000000"/>
                </a:solidFill>
                <a:latin typeface="Poppins Semi-Bold"/>
                <a:ea typeface="Poppins Semi-Bold"/>
                <a:cs typeface="Poppins Semi-Bold"/>
                <a:sym typeface="Poppins Semi-Bold"/>
              </a:rPr>
              <a:t>•Team Name (Registered on Website) </a:t>
            </a:r>
            <a:r>
              <a:rPr lang="en-US" sz="3200" b="1" dirty="0" smtClean="0">
                <a:solidFill>
                  <a:srgbClr val="000000"/>
                </a:solidFill>
                <a:latin typeface="Poppins Semi-Bold"/>
                <a:ea typeface="Poppins Semi-Bold"/>
                <a:cs typeface="Poppins Semi-Bold"/>
                <a:sym typeface="Poppins Semi-Bold"/>
              </a:rPr>
              <a:t>-TECHDEEP</a:t>
            </a:r>
            <a:endParaRPr lang="en-US" sz="3200" b="1" dirty="0">
              <a:solidFill>
                <a:srgbClr val="000000"/>
              </a:solidFill>
              <a:latin typeface="Poppins Semi-Bold"/>
              <a:ea typeface="Poppins Semi-Bold"/>
              <a:cs typeface="Poppins Semi-Bold"/>
              <a:sym typeface="Poppins Semi-Bold"/>
            </a:endParaRPr>
          </a:p>
          <a:p>
            <a:pPr>
              <a:lnSpc>
                <a:spcPts val="5426"/>
              </a:lnSpc>
            </a:pPr>
            <a:r>
              <a:rPr lang="en-US" sz="3200" b="1" dirty="0">
                <a:solidFill>
                  <a:srgbClr val="000000"/>
                </a:solidFill>
                <a:latin typeface="Poppins Semi-Bold"/>
                <a:ea typeface="Poppins Semi-Bold"/>
                <a:cs typeface="Poppins Semi-Bold"/>
                <a:sym typeface="Poppins Semi-Bold"/>
              </a:rPr>
              <a:t>•</a:t>
            </a:r>
            <a:r>
              <a:rPr lang="en-US" sz="3200" b="1" dirty="0" smtClean="0">
                <a:solidFill>
                  <a:srgbClr val="000000"/>
                </a:solidFill>
                <a:latin typeface="Poppins Semi-Bold"/>
                <a:ea typeface="Poppins Semi-Bold"/>
                <a:cs typeface="Poppins Semi-Bold"/>
                <a:sym typeface="Poppins Semi-Bold"/>
              </a:rPr>
              <a:t>Participant Name–M.PRADEEPKUMAR, P.AVINASH KUMAR,</a:t>
            </a:r>
          </a:p>
          <a:p>
            <a:pPr>
              <a:lnSpc>
                <a:spcPts val="5426"/>
              </a:lnSpc>
            </a:pPr>
            <a:r>
              <a:rPr lang="en-US" sz="3200" b="1" dirty="0" smtClean="0">
                <a:solidFill>
                  <a:srgbClr val="000000"/>
                </a:solidFill>
                <a:latin typeface="Poppins Semi-Bold"/>
                <a:ea typeface="Poppins Semi-Bold"/>
                <a:cs typeface="Poppins Semi-Bold"/>
                <a:sym typeface="Poppins Semi-Bold"/>
              </a:rPr>
              <a:t>			              M.VENKATESHWARLU, M.VAMSHI.</a:t>
            </a:r>
            <a:endParaRPr lang="en-US" sz="3200" b="1" dirty="0">
              <a:solidFill>
                <a:srgbClr val="000000"/>
              </a:solidFill>
              <a:latin typeface="Poppins Semi-Bold"/>
              <a:ea typeface="Poppins Semi-Bold"/>
              <a:cs typeface="Poppins Semi-Bold"/>
              <a:sym typeface="Poppins Semi-Bold"/>
            </a:endParaRPr>
          </a:p>
        </p:txBody>
      </p:sp>
      <p:sp>
        <p:nvSpPr>
          <p:cNvPr id="7" name="Freeform 7"/>
          <p:cNvSpPr/>
          <p:nvPr/>
        </p:nvSpPr>
        <p:spPr>
          <a:xfrm flipH="1">
            <a:off x="0" y="9294351"/>
            <a:ext cx="18288000" cy="992649"/>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5"/>
            <a:stretch>
              <a:fillRect b="-34214"/>
            </a:stretch>
          </a:blipFill>
        </p:spPr>
      </p:sp>
      <p:sp>
        <p:nvSpPr>
          <p:cNvPr id="8" name="TextBox 8"/>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01</a:t>
            </a:r>
          </a:p>
        </p:txBody>
      </p:sp>
      <p:sp>
        <p:nvSpPr>
          <p:cNvPr id="9" name="TextBox 9"/>
          <p:cNvSpPr txBox="1"/>
          <p:nvPr/>
        </p:nvSpPr>
        <p:spPr>
          <a:xfrm>
            <a:off x="5494714" y="1664489"/>
            <a:ext cx="6730981" cy="2966974"/>
          </a:xfrm>
          <a:prstGeom prst="rect">
            <a:avLst/>
          </a:prstGeom>
        </p:spPr>
        <p:txBody>
          <a:bodyPr lIns="0" tIns="0" rIns="0" bIns="0" rtlCol="0" anchor="t">
            <a:spAutoFit/>
          </a:bodyPr>
          <a:lstStyle/>
          <a:p>
            <a:pPr algn="ctr">
              <a:lnSpc>
                <a:spcPts val="7615"/>
              </a:lnSpc>
            </a:pPr>
            <a:endParaRPr dirty="0"/>
          </a:p>
          <a:p>
            <a:pPr algn="ctr">
              <a:lnSpc>
                <a:spcPts val="7615"/>
              </a:lnSpc>
              <a:spcBef>
                <a:spcPct val="0"/>
              </a:spcBef>
            </a:pPr>
            <a:r>
              <a:rPr lang="en-US" sz="5439" b="1" dirty="0">
                <a:solidFill>
                  <a:srgbClr val="000000"/>
                </a:solidFill>
                <a:latin typeface="Times New Roman Bold"/>
                <a:ea typeface="Times New Roman Bold"/>
                <a:cs typeface="Times New Roman Bold"/>
                <a:sym typeface="Times New Roman Bold"/>
              </a:rPr>
              <a:t>TITLE PAGE</a:t>
            </a:r>
          </a:p>
          <a:p>
            <a:pPr algn="ctr">
              <a:lnSpc>
                <a:spcPts val="7615"/>
              </a:lnSpc>
              <a:spcBef>
                <a:spcPct val="0"/>
              </a:spcBef>
            </a:pPr>
            <a:endParaRPr lang="en-US" sz="5439" b="1" dirty="0">
              <a:solidFill>
                <a:srgbClr val="000000"/>
              </a:solidFill>
              <a:latin typeface="Times New Roman Bold"/>
              <a:ea typeface="Times New Roman Bold"/>
              <a:cs typeface="Times New Roman Bold"/>
              <a:sym typeface="Times New Roman Bold"/>
            </a:endParaRPr>
          </a:p>
        </p:txBody>
      </p:sp>
      <p:sp>
        <p:nvSpPr>
          <p:cNvPr id="10" name="TextBox 10"/>
          <p:cNvSpPr txBox="1"/>
          <p:nvPr/>
        </p:nvSpPr>
        <p:spPr>
          <a:xfrm>
            <a:off x="3321979" y="9794298"/>
            <a:ext cx="11076454" cy="333608"/>
          </a:xfrm>
          <a:prstGeom prst="rect">
            <a:avLst/>
          </a:prstGeom>
        </p:spPr>
        <p:txBody>
          <a:bodyPr lIns="0" tIns="0" rIns="0" bIns="0" rtlCol="0" anchor="t">
            <a:spAutoFit/>
          </a:bodyPr>
          <a:lstStyle/>
          <a:p>
            <a:pPr algn="ctr">
              <a:lnSpc>
                <a:spcPts val="2612"/>
              </a:lnSpc>
              <a:spcBef>
                <a:spcPct val="0"/>
              </a:spcBef>
            </a:pPr>
            <a:r>
              <a:rPr lang="en-US" sz="1865" b="1" dirty="0">
                <a:solidFill>
                  <a:srgbClr val="F4E9EC"/>
                </a:solidFill>
                <a:latin typeface="Poppins Semi-Bold"/>
                <a:ea typeface="Poppins Semi-Bold"/>
                <a:cs typeface="Poppins Semi-Bold"/>
                <a:sym typeface="Poppins Semi-Bold"/>
              </a:rPr>
              <a:t>Sri </a:t>
            </a:r>
            <a:r>
              <a:rPr lang="en-US" sz="1865" b="1" dirty="0" err="1">
                <a:solidFill>
                  <a:srgbClr val="F4E9EC"/>
                </a:solidFill>
                <a:latin typeface="Poppins Semi-Bold"/>
                <a:ea typeface="Poppins Semi-Bold"/>
                <a:cs typeface="Poppins Semi-Bold"/>
                <a:sym typeface="Poppins Semi-Bold"/>
              </a:rPr>
              <a:t>Indu</a:t>
            </a:r>
            <a:r>
              <a:rPr lang="en-US" sz="1865" b="1" dirty="0">
                <a:solidFill>
                  <a:srgbClr val="F4E9EC"/>
                </a:solidFill>
                <a:latin typeface="Poppins Semi-Bold"/>
                <a:ea typeface="Poppins Semi-Bold"/>
                <a:cs typeface="Poppins Semi-Bold"/>
                <a:sym typeface="Poppins Semi-Bold"/>
              </a:rPr>
              <a:t> College of </a:t>
            </a:r>
            <a:r>
              <a:rPr lang="en-US" sz="1865" b="1" dirty="0" err="1">
                <a:solidFill>
                  <a:srgbClr val="F4E9EC"/>
                </a:solidFill>
                <a:latin typeface="Poppins Semi-Bold"/>
                <a:ea typeface="Poppins Semi-Bold"/>
                <a:cs typeface="Poppins Semi-Bold"/>
                <a:sym typeface="Poppins Semi-Bold"/>
              </a:rPr>
              <a:t>Engg</a:t>
            </a:r>
            <a:r>
              <a:rPr lang="en-US" sz="1865" b="1" dirty="0">
                <a:solidFill>
                  <a:srgbClr val="F4E9EC"/>
                </a:solidFill>
                <a:latin typeface="Poppins Semi-Bold"/>
                <a:ea typeface="Poppins Semi-Bold"/>
                <a:cs typeface="Poppins Semi-Bold"/>
                <a:sym typeface="Poppins Semi-Bold"/>
              </a:rPr>
              <a:t> &amp; Tech - Cyber Club, Department of Cyber Security</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a:ln cap="sq">
            <a:noFill/>
            <a:prstDash val="solid"/>
            <a:miter/>
          </a:ln>
        </p:spPr>
      </p:sp>
      <p:sp>
        <p:nvSpPr>
          <p:cNvPr id="9" name="TextBox 9"/>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02</a:t>
            </a:r>
          </a:p>
        </p:txBody>
      </p:sp>
      <p:sp>
        <p:nvSpPr>
          <p:cNvPr id="10" name="TextBox 10"/>
          <p:cNvSpPr txBox="1"/>
          <p:nvPr/>
        </p:nvSpPr>
        <p:spPr>
          <a:xfrm>
            <a:off x="4624904" y="1087201"/>
            <a:ext cx="8452930" cy="974626"/>
          </a:xfrm>
          <a:prstGeom prst="rect">
            <a:avLst/>
          </a:prstGeom>
        </p:spPr>
        <p:txBody>
          <a:bodyPr wrap="square" lIns="0" tIns="0" rIns="0" bIns="0" rtlCol="0" anchor="t">
            <a:spAutoFit/>
          </a:bodyPr>
          <a:lstStyle/>
          <a:p>
            <a:pPr algn="ctr">
              <a:lnSpc>
                <a:spcPts val="7614"/>
              </a:lnSpc>
              <a:spcBef>
                <a:spcPct val="0"/>
              </a:spcBef>
            </a:pPr>
            <a:r>
              <a:rPr lang="en-US" sz="5438" b="1" dirty="0" smtClean="0">
                <a:solidFill>
                  <a:srgbClr val="000000"/>
                </a:solidFill>
                <a:latin typeface="Times New Roman Bold"/>
                <a:ea typeface="Times New Roman Bold"/>
                <a:cs typeface="Times New Roman Bold"/>
                <a:sym typeface="Times New Roman Bold"/>
              </a:rPr>
              <a:t>EVASAFE(Women Safety)</a:t>
            </a:r>
            <a:endParaRPr lang="en-US" sz="5438" b="1" dirty="0">
              <a:solidFill>
                <a:srgbClr val="000000"/>
              </a:solidFill>
              <a:latin typeface="Times New Roman Bold"/>
              <a:ea typeface="Times New Roman Bold"/>
              <a:cs typeface="Times New Roman Bold"/>
              <a:sym typeface="Times New Roman Bold"/>
            </a:endParaRPr>
          </a:p>
        </p:txBody>
      </p:sp>
      <p:sp>
        <p:nvSpPr>
          <p:cNvPr id="11" name="TextBox 11"/>
          <p:cNvSpPr txBox="1"/>
          <p:nvPr/>
        </p:nvSpPr>
        <p:spPr>
          <a:xfrm>
            <a:off x="3605773" y="9794298"/>
            <a:ext cx="10491193"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12" name="TextBox 12"/>
          <p:cNvSpPr txBox="1"/>
          <p:nvPr/>
        </p:nvSpPr>
        <p:spPr>
          <a:xfrm>
            <a:off x="793672" y="1086141"/>
            <a:ext cx="1424228" cy="317779"/>
          </a:xfrm>
          <a:prstGeom prst="rect">
            <a:avLst/>
          </a:prstGeom>
        </p:spPr>
        <p:txBody>
          <a:bodyPr lIns="0" tIns="0" rIns="0" bIns="0" rtlCol="0" anchor="t">
            <a:spAutoFit/>
          </a:bodyPr>
          <a:lstStyle/>
          <a:p>
            <a:pPr algn="ctr">
              <a:lnSpc>
                <a:spcPts val="2707"/>
              </a:lnSpc>
            </a:pPr>
            <a:r>
              <a:rPr lang="en-US" sz="1933" b="1" dirty="0" smtClean="0">
                <a:solidFill>
                  <a:srgbClr val="000000"/>
                </a:solidFill>
                <a:latin typeface="Times New Roman Bold"/>
                <a:ea typeface="Times New Roman Bold"/>
                <a:cs typeface="Times New Roman Bold"/>
                <a:sym typeface="Times New Roman Bold"/>
              </a:rPr>
              <a:t>TECHDEEP</a:t>
            </a:r>
            <a:endParaRPr lang="en-US" sz="1933" b="1" dirty="0">
              <a:solidFill>
                <a:srgbClr val="000000"/>
              </a:solidFill>
              <a:latin typeface="Times New Roman Bold"/>
              <a:ea typeface="Times New Roman Bold"/>
              <a:cs typeface="Times New Roman Bold"/>
              <a:sym typeface="Times New Roman Bold"/>
            </a:endParaRPr>
          </a:p>
        </p:txBody>
      </p:sp>
      <p:sp>
        <p:nvSpPr>
          <p:cNvPr id="13" name="TextBox 13"/>
          <p:cNvSpPr txBox="1"/>
          <p:nvPr/>
        </p:nvSpPr>
        <p:spPr>
          <a:xfrm>
            <a:off x="2603148" y="2935119"/>
            <a:ext cx="12496443" cy="740009"/>
          </a:xfrm>
          <a:prstGeom prst="rect">
            <a:avLst/>
          </a:prstGeom>
        </p:spPr>
        <p:txBody>
          <a:bodyPr lIns="0" tIns="0" rIns="0" bIns="0" rtlCol="0" anchor="t">
            <a:spAutoFit/>
          </a:bodyPr>
          <a:lstStyle/>
          <a:p>
            <a:pPr algn="ctr">
              <a:lnSpc>
                <a:spcPts val="5412"/>
              </a:lnSpc>
              <a:spcBef>
                <a:spcPct val="0"/>
              </a:spcBef>
            </a:pPr>
            <a:r>
              <a:rPr lang="en-US" sz="3865" b="1" dirty="0">
                <a:solidFill>
                  <a:srgbClr val="000000"/>
                </a:solidFill>
                <a:latin typeface="Times New Roman Bold"/>
                <a:ea typeface="Times New Roman Bold"/>
                <a:cs typeface="Times New Roman Bold"/>
                <a:sym typeface="Times New Roman Bold"/>
              </a:rPr>
              <a:t>Proposed Solution (Describe your Idea / Solution / Prototype)</a:t>
            </a:r>
          </a:p>
        </p:txBody>
      </p:sp>
      <p:sp>
        <p:nvSpPr>
          <p:cNvPr id="14" name="TextBox 14"/>
          <p:cNvSpPr txBox="1"/>
          <p:nvPr/>
        </p:nvSpPr>
        <p:spPr>
          <a:xfrm>
            <a:off x="2603148" y="4273920"/>
            <a:ext cx="9773960" cy="3077766"/>
          </a:xfrm>
          <a:prstGeom prst="rect">
            <a:avLst/>
          </a:prstGeom>
        </p:spPr>
        <p:txBody>
          <a:bodyPr lIns="0" tIns="0" rIns="0" bIns="0" rtlCol="0" anchor="t">
            <a:spAutoFit/>
          </a:bodyPr>
          <a:lstStyle/>
          <a:p>
            <a:r>
              <a:rPr lang="en-US" sz="4000" dirty="0" smtClean="0"/>
              <a:t> </a:t>
            </a:r>
            <a:r>
              <a:rPr lang="en-US" sz="4000" b="1" dirty="0"/>
              <a:t>A mobile </a:t>
            </a:r>
            <a:r>
              <a:rPr lang="en-US" sz="4000" b="1" dirty="0" smtClean="0"/>
              <a:t>app/web app </a:t>
            </a:r>
            <a:r>
              <a:rPr lang="en-US" sz="4000" b="1" dirty="0"/>
              <a:t>that offers</a:t>
            </a:r>
            <a:r>
              <a:rPr lang="en-US" sz="4000" dirty="0"/>
              <a:t>:</a:t>
            </a:r>
          </a:p>
          <a:p>
            <a:pPr marL="571500" indent="-571500">
              <a:buFont typeface="Wingdings" panose="05000000000000000000" pitchFamily="2" charset="2"/>
              <a:buChar char="Ø"/>
            </a:pPr>
            <a:r>
              <a:rPr lang="en-US" sz="4000" dirty="0"/>
              <a:t> </a:t>
            </a:r>
            <a:r>
              <a:rPr lang="en-US" sz="4000" dirty="0" smtClean="0"/>
              <a:t>Live </a:t>
            </a:r>
            <a:r>
              <a:rPr lang="en-US" sz="4000" dirty="0"/>
              <a:t>location </a:t>
            </a:r>
            <a:r>
              <a:rPr lang="en-US" sz="4000" dirty="0" smtClean="0"/>
              <a:t>tracking.</a:t>
            </a:r>
          </a:p>
          <a:p>
            <a:pPr marL="571500" indent="-571500">
              <a:buFont typeface="Wingdings" panose="05000000000000000000" pitchFamily="2" charset="2"/>
              <a:buChar char="Ø"/>
            </a:pPr>
            <a:r>
              <a:rPr lang="en-US" sz="4000" dirty="0" smtClean="0"/>
              <a:t> SOS </a:t>
            </a:r>
            <a:r>
              <a:rPr lang="en-US" sz="4000" dirty="0"/>
              <a:t>emergency </a:t>
            </a:r>
            <a:r>
              <a:rPr lang="en-US" sz="4000" dirty="0" smtClean="0"/>
              <a:t>alerts.</a:t>
            </a:r>
            <a:endParaRPr lang="en-US" sz="4000" dirty="0"/>
          </a:p>
          <a:p>
            <a:pPr marL="571500" indent="-571500">
              <a:buFont typeface="Wingdings" panose="05000000000000000000" pitchFamily="2" charset="2"/>
              <a:buChar char="Ø"/>
            </a:pPr>
            <a:r>
              <a:rPr lang="en-US" sz="4000" dirty="0" smtClean="0"/>
              <a:t> Safety </a:t>
            </a:r>
            <a:r>
              <a:rPr lang="en-US" sz="4000" dirty="0"/>
              <a:t>checks based on location</a:t>
            </a:r>
          </a:p>
          <a:p>
            <a:pPr marL="571500" indent="-571500">
              <a:buFont typeface="Wingdings" panose="05000000000000000000" pitchFamily="2" charset="2"/>
              <a:buChar char="Ø"/>
            </a:pPr>
            <a:r>
              <a:rPr lang="en-US" sz="4000" dirty="0"/>
              <a:t> </a:t>
            </a:r>
            <a:r>
              <a:rPr lang="en-US" sz="4000" dirty="0" smtClean="0"/>
              <a:t>Easy </a:t>
            </a:r>
            <a:r>
              <a:rPr lang="en-US" sz="4000" dirty="0"/>
              <a:t>reporting of problems</a:t>
            </a:r>
          </a:p>
        </p:txBody>
      </p:sp>
      <p:pic>
        <p:nvPicPr>
          <p:cNvPr id="15" name="Picture 1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546616" y="3918134"/>
            <a:ext cx="3571875" cy="3571875"/>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358467" y="2286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03</a:t>
            </a:r>
          </a:p>
        </p:txBody>
      </p:sp>
      <p:sp>
        <p:nvSpPr>
          <p:cNvPr id="7" name="TextBox 7"/>
          <p:cNvSpPr txBox="1"/>
          <p:nvPr/>
        </p:nvSpPr>
        <p:spPr>
          <a:xfrm>
            <a:off x="4721124" y="640956"/>
            <a:ext cx="9226960" cy="1071994"/>
          </a:xfrm>
          <a:prstGeom prst="rect">
            <a:avLst/>
          </a:prstGeom>
        </p:spPr>
        <p:txBody>
          <a:bodyPr lIns="0" tIns="0" rIns="0" bIns="0" rtlCol="0" anchor="t">
            <a:spAutoFit/>
          </a:bodyPr>
          <a:lstStyle/>
          <a:p>
            <a:pPr algn="ctr">
              <a:lnSpc>
                <a:spcPts val="7919"/>
              </a:lnSpc>
              <a:spcBef>
                <a:spcPct val="0"/>
              </a:spcBef>
            </a:pPr>
            <a:r>
              <a:rPr lang="en-US" sz="5656" b="1">
                <a:solidFill>
                  <a:srgbClr val="000000"/>
                </a:solidFill>
                <a:latin typeface="Times New Roman Bold"/>
                <a:ea typeface="Times New Roman Bold"/>
                <a:cs typeface="Times New Roman Bold"/>
                <a:sym typeface="Times New Roman Bold"/>
              </a:rPr>
              <a:t>TECHNICAL APPROACH</a:t>
            </a:r>
          </a:p>
        </p:txBody>
      </p:sp>
      <p:sp>
        <p:nvSpPr>
          <p:cNvPr id="8" name="TextBox 8"/>
          <p:cNvSpPr txBox="1"/>
          <p:nvPr/>
        </p:nvSpPr>
        <p:spPr>
          <a:xfrm>
            <a:off x="3164261" y="9794298"/>
            <a:ext cx="10783824"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317779"/>
          </a:xfrm>
          <a:prstGeom prst="rect">
            <a:avLst/>
          </a:prstGeom>
        </p:spPr>
        <p:txBody>
          <a:bodyPr lIns="0" tIns="0" rIns="0" bIns="0" rtlCol="0" anchor="t">
            <a:spAutoFit/>
          </a:bodyPr>
          <a:lstStyle/>
          <a:p>
            <a:pPr algn="ctr">
              <a:lnSpc>
                <a:spcPts val="2707"/>
              </a:lnSpc>
            </a:pPr>
            <a:r>
              <a:rPr lang="en-US" sz="1933" b="1" dirty="0">
                <a:solidFill>
                  <a:srgbClr val="000000"/>
                </a:solidFill>
                <a:latin typeface="Times New Roman Bold"/>
                <a:ea typeface="Times New Roman Bold"/>
                <a:cs typeface="Times New Roman Bold"/>
                <a:sym typeface="Times New Roman Bold"/>
              </a:rPr>
              <a:t>TECHDEEP</a:t>
            </a:r>
          </a:p>
        </p:txBody>
      </p:sp>
      <p:sp>
        <p:nvSpPr>
          <p:cNvPr id="10" name="TextBox 10"/>
          <p:cNvSpPr txBox="1"/>
          <p:nvPr/>
        </p:nvSpPr>
        <p:spPr>
          <a:xfrm>
            <a:off x="891169" y="3606670"/>
            <a:ext cx="17133472" cy="4308872"/>
          </a:xfrm>
          <a:prstGeom prst="rect">
            <a:avLst/>
          </a:prstGeom>
        </p:spPr>
        <p:txBody>
          <a:bodyPr lIns="0" tIns="0" rIns="0" bIns="0" rtlCol="0" anchor="t">
            <a:spAutoFit/>
          </a:bodyPr>
          <a:lstStyle/>
          <a:p>
            <a:pPr marL="571500" indent="-571500">
              <a:buFont typeface="Wingdings" panose="05000000000000000000" pitchFamily="2" charset="2"/>
              <a:buChar char="Ø"/>
            </a:pPr>
            <a:r>
              <a:rPr lang="en-US" sz="4000" b="1" dirty="0" smtClean="0"/>
              <a:t>Frontend</a:t>
            </a:r>
            <a:r>
              <a:rPr lang="en-US" sz="4000" dirty="0"/>
              <a:t>: Flutter (Android &amp; iOS)</a:t>
            </a:r>
          </a:p>
          <a:p>
            <a:pPr marL="571500" indent="-571500">
              <a:buFont typeface="Wingdings" panose="05000000000000000000" pitchFamily="2" charset="2"/>
              <a:buChar char="Ø"/>
            </a:pPr>
            <a:r>
              <a:rPr lang="en-US" sz="4000" b="1" dirty="0" smtClean="0"/>
              <a:t>Backend</a:t>
            </a:r>
            <a:r>
              <a:rPr lang="en-US" sz="4000" dirty="0"/>
              <a:t>: Node.js &amp; Firebase</a:t>
            </a:r>
          </a:p>
          <a:p>
            <a:pPr marL="571500" indent="-571500">
              <a:buFont typeface="Wingdings" panose="05000000000000000000" pitchFamily="2" charset="2"/>
              <a:buChar char="Ø"/>
            </a:pPr>
            <a:r>
              <a:rPr lang="en-US" sz="4000" b="1" dirty="0" smtClean="0"/>
              <a:t>Features</a:t>
            </a:r>
            <a:r>
              <a:rPr lang="en-US" sz="4000" b="1" dirty="0"/>
              <a:t>:</a:t>
            </a:r>
          </a:p>
          <a:p>
            <a:pPr marL="571500" indent="-571500">
              <a:buFont typeface="Arial" panose="020B0604020202020204" pitchFamily="34" charset="0"/>
              <a:buChar char="•"/>
            </a:pPr>
            <a:r>
              <a:rPr lang="en-US" sz="4000" dirty="0" smtClean="0"/>
              <a:t>GPS </a:t>
            </a:r>
            <a:r>
              <a:rPr lang="en-US" sz="4000" dirty="0"/>
              <a:t>tracking</a:t>
            </a:r>
          </a:p>
          <a:p>
            <a:pPr marL="571500" indent="-571500">
              <a:buFont typeface="Arial" panose="020B0604020202020204" pitchFamily="34" charset="0"/>
              <a:buChar char="•"/>
            </a:pPr>
            <a:r>
              <a:rPr lang="en-US" sz="4000" dirty="0" smtClean="0"/>
              <a:t> Emergency </a:t>
            </a:r>
            <a:r>
              <a:rPr lang="en-US" sz="4000" dirty="0"/>
              <a:t>contact alerts</a:t>
            </a:r>
          </a:p>
          <a:p>
            <a:pPr marL="571500" indent="-571500">
              <a:buFont typeface="Arial" panose="020B0604020202020204" pitchFamily="34" charset="0"/>
              <a:buChar char="•"/>
            </a:pPr>
            <a:r>
              <a:rPr lang="en-US" sz="4000" dirty="0"/>
              <a:t> </a:t>
            </a:r>
            <a:r>
              <a:rPr lang="en-US" sz="4000" dirty="0" smtClean="0"/>
              <a:t>AI </a:t>
            </a:r>
            <a:r>
              <a:rPr lang="en-US" sz="4000" dirty="0"/>
              <a:t>to detect unusual activity</a:t>
            </a:r>
          </a:p>
          <a:p>
            <a:pPr marL="571500" indent="-571500">
              <a:buFont typeface="Arial" panose="020B0604020202020204" pitchFamily="34" charset="0"/>
              <a:buChar char="•"/>
            </a:pPr>
            <a:r>
              <a:rPr lang="en-US" sz="4000" dirty="0"/>
              <a:t> </a:t>
            </a:r>
            <a:r>
              <a:rPr lang="en-US" sz="4000" dirty="0" smtClean="0"/>
              <a:t>Anonymous </a:t>
            </a:r>
            <a:r>
              <a:rPr lang="en-US" sz="4000" dirty="0"/>
              <a:t>incident reporting</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04</a:t>
            </a:r>
          </a:p>
        </p:txBody>
      </p:sp>
      <p:sp>
        <p:nvSpPr>
          <p:cNvPr id="7" name="TextBox 7"/>
          <p:cNvSpPr txBox="1"/>
          <p:nvPr/>
        </p:nvSpPr>
        <p:spPr>
          <a:xfrm>
            <a:off x="3876856" y="455527"/>
            <a:ext cx="10590345" cy="1039155"/>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FEASIBILITY AND VIABILITY</a:t>
            </a:r>
          </a:p>
        </p:txBody>
      </p:sp>
      <p:sp>
        <p:nvSpPr>
          <p:cNvPr id="8" name="TextBox 8"/>
          <p:cNvSpPr txBox="1"/>
          <p:nvPr/>
        </p:nvSpPr>
        <p:spPr>
          <a:xfrm>
            <a:off x="3348719" y="9794298"/>
            <a:ext cx="10603743"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317779"/>
          </a:xfrm>
          <a:prstGeom prst="rect">
            <a:avLst/>
          </a:prstGeom>
        </p:spPr>
        <p:txBody>
          <a:bodyPr lIns="0" tIns="0" rIns="0" bIns="0" rtlCol="0" anchor="t">
            <a:spAutoFit/>
          </a:bodyPr>
          <a:lstStyle/>
          <a:p>
            <a:pPr algn="ctr">
              <a:lnSpc>
                <a:spcPts val="2707"/>
              </a:lnSpc>
            </a:pPr>
            <a:r>
              <a:rPr lang="en-US" sz="1933" b="1" dirty="0">
                <a:solidFill>
                  <a:srgbClr val="000000"/>
                </a:solidFill>
                <a:latin typeface="Times New Roman Bold"/>
                <a:ea typeface="Times New Roman Bold"/>
                <a:cs typeface="Times New Roman Bold"/>
                <a:sym typeface="Times New Roman Bold"/>
              </a:rPr>
              <a:t>TECHDEEP</a:t>
            </a:r>
          </a:p>
        </p:txBody>
      </p:sp>
      <p:sp>
        <p:nvSpPr>
          <p:cNvPr id="10" name="TextBox 10"/>
          <p:cNvSpPr txBox="1"/>
          <p:nvPr/>
        </p:nvSpPr>
        <p:spPr>
          <a:xfrm>
            <a:off x="2743200" y="3789079"/>
            <a:ext cx="13487400" cy="2462213"/>
          </a:xfrm>
          <a:prstGeom prst="rect">
            <a:avLst/>
          </a:prstGeom>
        </p:spPr>
        <p:txBody>
          <a:bodyPr wrap="square" lIns="0" tIns="0" rIns="0" bIns="0" rtlCol="0" anchor="t">
            <a:spAutoFit/>
          </a:bodyPr>
          <a:lstStyle/>
          <a:p>
            <a:pPr marL="685800" indent="-685800">
              <a:buFont typeface="Wingdings" panose="05000000000000000000" pitchFamily="2" charset="2"/>
              <a:buChar char="Ø"/>
            </a:pPr>
            <a:r>
              <a:rPr lang="en-US" sz="4000" dirty="0" smtClean="0"/>
              <a:t>Technically </a:t>
            </a:r>
            <a:r>
              <a:rPr lang="en-US" sz="4000" dirty="0"/>
              <a:t>Possible: Uses proven </a:t>
            </a:r>
            <a:r>
              <a:rPr lang="en-US" sz="4000" dirty="0" smtClean="0"/>
              <a:t>technologies.</a:t>
            </a:r>
            <a:endParaRPr lang="en-US" sz="4000" dirty="0"/>
          </a:p>
          <a:p>
            <a:pPr marL="685800" indent="-685800">
              <a:buFont typeface="Wingdings" panose="05000000000000000000" pitchFamily="2" charset="2"/>
              <a:buChar char="Ø"/>
            </a:pPr>
            <a:r>
              <a:rPr lang="en-US" sz="4000" dirty="0" smtClean="0"/>
              <a:t>Financially </a:t>
            </a:r>
            <a:r>
              <a:rPr lang="en-US" sz="4000" dirty="0"/>
              <a:t>Viable: Low-cost </a:t>
            </a:r>
            <a:r>
              <a:rPr lang="en-US" sz="4000" dirty="0" smtClean="0"/>
              <a:t>development can </a:t>
            </a:r>
            <a:r>
              <a:rPr lang="en-US" sz="4000" dirty="0"/>
              <a:t>be supported by NGOs or </a:t>
            </a:r>
            <a:r>
              <a:rPr lang="en-US" sz="4000" dirty="0" smtClean="0"/>
              <a:t>government.</a:t>
            </a:r>
            <a:endParaRPr lang="en-US" sz="4000" dirty="0"/>
          </a:p>
          <a:p>
            <a:pPr marL="685800" indent="-685800">
              <a:buFont typeface="Wingdings" panose="05000000000000000000" pitchFamily="2" charset="2"/>
              <a:buChar char="Ø"/>
            </a:pPr>
            <a:r>
              <a:rPr lang="en-US" sz="4000" dirty="0" smtClean="0"/>
              <a:t>Scalable</a:t>
            </a:r>
            <a:r>
              <a:rPr lang="en-US" sz="4000" dirty="0"/>
              <a:t>: Start with cities, then </a:t>
            </a:r>
            <a:r>
              <a:rPr lang="en-US" sz="4000" dirty="0" smtClean="0"/>
              <a:t>expand.</a:t>
            </a:r>
            <a:endParaRPr lang="en-US" sz="40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05</a:t>
            </a:r>
          </a:p>
        </p:txBody>
      </p:sp>
      <p:sp>
        <p:nvSpPr>
          <p:cNvPr id="7" name="TextBox 7"/>
          <p:cNvSpPr txBox="1"/>
          <p:nvPr/>
        </p:nvSpPr>
        <p:spPr>
          <a:xfrm>
            <a:off x="4624650" y="565676"/>
            <a:ext cx="8879582" cy="1039155"/>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IMPACT AND BENEFITS</a:t>
            </a:r>
          </a:p>
        </p:txBody>
      </p:sp>
      <p:sp>
        <p:nvSpPr>
          <p:cNvPr id="8" name="TextBox 8"/>
          <p:cNvSpPr txBox="1"/>
          <p:nvPr/>
        </p:nvSpPr>
        <p:spPr>
          <a:xfrm>
            <a:off x="3663860" y="9794298"/>
            <a:ext cx="10176053"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317779"/>
          </a:xfrm>
          <a:prstGeom prst="rect">
            <a:avLst/>
          </a:prstGeom>
        </p:spPr>
        <p:txBody>
          <a:bodyPr lIns="0" tIns="0" rIns="0" bIns="0" rtlCol="0" anchor="t">
            <a:spAutoFit/>
          </a:bodyPr>
          <a:lstStyle/>
          <a:p>
            <a:pPr algn="ctr">
              <a:lnSpc>
                <a:spcPts val="2707"/>
              </a:lnSpc>
            </a:pPr>
            <a:r>
              <a:rPr lang="en-US" sz="1933" b="1" dirty="0">
                <a:solidFill>
                  <a:srgbClr val="000000"/>
                </a:solidFill>
                <a:latin typeface="Times New Roman Bold"/>
                <a:ea typeface="Times New Roman Bold"/>
                <a:cs typeface="Times New Roman Bold"/>
                <a:sym typeface="Times New Roman Bold"/>
              </a:rPr>
              <a:t>TECHDEEP</a:t>
            </a:r>
          </a:p>
        </p:txBody>
      </p:sp>
      <p:sp>
        <p:nvSpPr>
          <p:cNvPr id="10" name="TextBox 10"/>
          <p:cNvSpPr txBox="1"/>
          <p:nvPr/>
        </p:nvSpPr>
        <p:spPr>
          <a:xfrm>
            <a:off x="2067837" y="4146345"/>
            <a:ext cx="15956804" cy="2577629"/>
          </a:xfrm>
          <a:prstGeom prst="rect">
            <a:avLst/>
          </a:prstGeom>
        </p:spPr>
        <p:txBody>
          <a:bodyPr wrap="square" lIns="0" tIns="0" rIns="0" bIns="0" rtlCol="0" anchor="t">
            <a:spAutoFit/>
          </a:bodyPr>
          <a:lstStyle/>
          <a:p>
            <a:pPr marL="571500" indent="-571500">
              <a:lnSpc>
                <a:spcPts val="6713"/>
              </a:lnSpc>
              <a:buFont typeface="Wingdings" panose="05000000000000000000" pitchFamily="2" charset="2"/>
              <a:buChar char="Ø"/>
            </a:pPr>
            <a:r>
              <a:rPr lang="en-US" sz="4000" dirty="0" smtClean="0">
                <a:solidFill>
                  <a:srgbClr val="000000"/>
                </a:solidFill>
                <a:latin typeface="+mj-lt"/>
                <a:ea typeface="Times New Roman"/>
                <a:cs typeface="Times New Roman"/>
                <a:sym typeface="Times New Roman"/>
              </a:rPr>
              <a:t>Helps </a:t>
            </a:r>
            <a:r>
              <a:rPr lang="en-US" sz="4000" dirty="0">
                <a:solidFill>
                  <a:srgbClr val="000000"/>
                </a:solidFill>
                <a:latin typeface="+mj-lt"/>
                <a:ea typeface="Times New Roman"/>
                <a:cs typeface="Times New Roman"/>
                <a:sym typeface="Times New Roman"/>
              </a:rPr>
              <a:t>women get quick help in danger- Creates </a:t>
            </a:r>
            <a:r>
              <a:rPr lang="en-US" sz="4000" dirty="0" smtClean="0">
                <a:solidFill>
                  <a:srgbClr val="000000"/>
                </a:solidFill>
                <a:latin typeface="+mj-lt"/>
                <a:ea typeface="Times New Roman"/>
                <a:cs typeface="Times New Roman"/>
                <a:sym typeface="Times New Roman"/>
              </a:rPr>
              <a:t>safer communities</a:t>
            </a:r>
            <a:r>
              <a:rPr lang="en-US" sz="4000" dirty="0">
                <a:solidFill>
                  <a:srgbClr val="000000"/>
                </a:solidFill>
                <a:latin typeface="+mj-lt"/>
                <a:ea typeface="Times New Roman"/>
                <a:cs typeface="Times New Roman"/>
                <a:sym typeface="Times New Roman"/>
              </a:rPr>
              <a:t>.</a:t>
            </a:r>
            <a:endParaRPr lang="en-US" sz="4000" dirty="0" smtClean="0">
              <a:solidFill>
                <a:srgbClr val="000000"/>
              </a:solidFill>
              <a:latin typeface="+mj-lt"/>
              <a:ea typeface="Times New Roman"/>
              <a:cs typeface="Times New Roman"/>
              <a:sym typeface="Times New Roman"/>
            </a:endParaRPr>
          </a:p>
          <a:p>
            <a:pPr marL="571500" indent="-571500">
              <a:lnSpc>
                <a:spcPts val="6713"/>
              </a:lnSpc>
              <a:buFont typeface="Wingdings" panose="05000000000000000000" pitchFamily="2" charset="2"/>
              <a:buChar char="Ø"/>
            </a:pPr>
            <a:r>
              <a:rPr lang="en-US" sz="4000" dirty="0" smtClean="0">
                <a:solidFill>
                  <a:srgbClr val="000000"/>
                </a:solidFill>
                <a:latin typeface="+mj-lt"/>
                <a:ea typeface="Times New Roman"/>
                <a:cs typeface="Times New Roman"/>
                <a:sym typeface="Times New Roman"/>
              </a:rPr>
              <a:t>Encourages </a:t>
            </a:r>
            <a:r>
              <a:rPr lang="en-US" sz="4000" dirty="0">
                <a:solidFill>
                  <a:srgbClr val="000000"/>
                </a:solidFill>
                <a:latin typeface="+mj-lt"/>
                <a:ea typeface="Times New Roman"/>
                <a:cs typeface="Times New Roman"/>
                <a:sym typeface="Times New Roman"/>
              </a:rPr>
              <a:t>reporting of </a:t>
            </a:r>
            <a:r>
              <a:rPr lang="en-US" sz="4000" dirty="0" smtClean="0">
                <a:solidFill>
                  <a:srgbClr val="000000"/>
                </a:solidFill>
                <a:latin typeface="+mj-lt"/>
                <a:ea typeface="Times New Roman"/>
                <a:cs typeface="Times New Roman"/>
                <a:sym typeface="Times New Roman"/>
              </a:rPr>
              <a:t>incidents.</a:t>
            </a:r>
          </a:p>
          <a:p>
            <a:pPr marL="571500" indent="-571500">
              <a:lnSpc>
                <a:spcPts val="6713"/>
              </a:lnSpc>
              <a:buFont typeface="Wingdings" panose="05000000000000000000" pitchFamily="2" charset="2"/>
              <a:buChar char="Ø"/>
            </a:pPr>
            <a:r>
              <a:rPr lang="en-US" sz="4000" dirty="0" smtClean="0">
                <a:solidFill>
                  <a:srgbClr val="000000"/>
                </a:solidFill>
                <a:latin typeface="+mj-lt"/>
                <a:ea typeface="Times New Roman"/>
                <a:cs typeface="Times New Roman"/>
                <a:sym typeface="Times New Roman"/>
              </a:rPr>
              <a:t>Connects </a:t>
            </a:r>
            <a:r>
              <a:rPr lang="en-US" sz="4000" dirty="0">
                <a:solidFill>
                  <a:srgbClr val="000000"/>
                </a:solidFill>
                <a:latin typeface="+mj-lt"/>
                <a:ea typeface="Times New Roman"/>
                <a:cs typeface="Times New Roman"/>
                <a:sym typeface="Times New Roman"/>
              </a:rPr>
              <a:t>with police and </a:t>
            </a:r>
            <a:r>
              <a:rPr lang="en-US" sz="4000" dirty="0" smtClean="0">
                <a:solidFill>
                  <a:srgbClr val="000000"/>
                </a:solidFill>
                <a:latin typeface="+mj-lt"/>
                <a:ea typeface="Times New Roman"/>
                <a:cs typeface="Times New Roman"/>
                <a:sym typeface="Times New Roman"/>
              </a:rPr>
              <a:t>NGOs.</a:t>
            </a:r>
            <a:endParaRPr lang="en-US" sz="4000" dirty="0">
              <a:solidFill>
                <a:srgbClr val="000000"/>
              </a:solidFill>
              <a:latin typeface="+mj-lt"/>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06</a:t>
            </a:r>
          </a:p>
        </p:txBody>
      </p:sp>
      <p:sp>
        <p:nvSpPr>
          <p:cNvPr id="7" name="TextBox 7"/>
          <p:cNvSpPr txBox="1"/>
          <p:nvPr/>
        </p:nvSpPr>
        <p:spPr>
          <a:xfrm>
            <a:off x="3482112" y="455527"/>
            <a:ext cx="11323776" cy="1039155"/>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RESEARCH AND REFERENCES</a:t>
            </a:r>
          </a:p>
        </p:txBody>
      </p:sp>
      <p:sp>
        <p:nvSpPr>
          <p:cNvPr id="8" name="TextBox 8"/>
          <p:cNvSpPr txBox="1"/>
          <p:nvPr/>
        </p:nvSpPr>
        <p:spPr>
          <a:xfrm>
            <a:off x="3795994" y="9794298"/>
            <a:ext cx="10378643"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317779"/>
          </a:xfrm>
          <a:prstGeom prst="rect">
            <a:avLst/>
          </a:prstGeom>
        </p:spPr>
        <p:txBody>
          <a:bodyPr lIns="0" tIns="0" rIns="0" bIns="0" rtlCol="0" anchor="t">
            <a:spAutoFit/>
          </a:bodyPr>
          <a:lstStyle/>
          <a:p>
            <a:pPr algn="ctr">
              <a:lnSpc>
                <a:spcPts val="2707"/>
              </a:lnSpc>
            </a:pPr>
            <a:r>
              <a:rPr lang="en-US" sz="1933" b="1" dirty="0">
                <a:solidFill>
                  <a:srgbClr val="000000"/>
                </a:solidFill>
                <a:latin typeface="Times New Roman Bold"/>
                <a:ea typeface="Times New Roman Bold"/>
                <a:cs typeface="Times New Roman Bold"/>
                <a:sym typeface="Times New Roman Bold"/>
              </a:rPr>
              <a:t>TECHDEEP</a:t>
            </a:r>
          </a:p>
        </p:txBody>
      </p:sp>
      <p:sp>
        <p:nvSpPr>
          <p:cNvPr id="10" name="TextBox 10"/>
          <p:cNvSpPr txBox="1"/>
          <p:nvPr/>
        </p:nvSpPr>
        <p:spPr>
          <a:xfrm>
            <a:off x="3065487" y="4035504"/>
            <a:ext cx="14959153" cy="1969770"/>
          </a:xfrm>
          <a:prstGeom prst="rect">
            <a:avLst/>
          </a:prstGeom>
        </p:spPr>
        <p:txBody>
          <a:bodyPr wrap="square" lIns="0" tIns="0" rIns="0" bIns="0" rtlCol="0" anchor="t">
            <a:spAutoFit/>
          </a:bodyPr>
          <a:lstStyle/>
          <a:p>
            <a:pPr marL="685800" indent="-685800">
              <a:buFont typeface="Wingdings" panose="05000000000000000000" pitchFamily="2" charset="2"/>
              <a:buChar char="Ø"/>
            </a:pPr>
            <a:r>
              <a:rPr lang="en-US" sz="4000" dirty="0" smtClean="0"/>
              <a:t>UN </a:t>
            </a:r>
            <a:r>
              <a:rPr lang="en-US" sz="4000" dirty="0"/>
              <a:t>Women: High public safety concerns among </a:t>
            </a:r>
            <a:r>
              <a:rPr lang="en-US" sz="4000" dirty="0" smtClean="0"/>
              <a:t>women.</a:t>
            </a:r>
            <a:endParaRPr lang="en-US" sz="4000" dirty="0"/>
          </a:p>
          <a:p>
            <a:pPr marL="685800" indent="-685800">
              <a:buFont typeface="Wingdings" panose="05000000000000000000" pitchFamily="2" charset="2"/>
              <a:buChar char="Ø"/>
            </a:pPr>
            <a:r>
              <a:rPr lang="en-US" sz="4000" dirty="0" smtClean="0"/>
              <a:t>Existing </a:t>
            </a:r>
            <a:r>
              <a:rPr lang="en-US" sz="4000" dirty="0"/>
              <a:t>apps (like </a:t>
            </a:r>
            <a:r>
              <a:rPr lang="en-US" sz="4000" dirty="0" err="1" smtClean="0"/>
              <a:t>Besafe</a:t>
            </a:r>
            <a:r>
              <a:rPr lang="en-US" sz="4000" dirty="0"/>
              <a:t>) show </a:t>
            </a:r>
            <a:r>
              <a:rPr lang="en-US" sz="4000" dirty="0" smtClean="0"/>
              <a:t>demand.</a:t>
            </a:r>
            <a:endParaRPr lang="en-US" sz="4000" dirty="0"/>
          </a:p>
          <a:p>
            <a:pPr marL="685800" indent="-685800">
              <a:buFont typeface="Wingdings" panose="05000000000000000000" pitchFamily="2" charset="2"/>
              <a:buChar char="Ø"/>
            </a:pPr>
            <a:r>
              <a:rPr lang="en-US" sz="4000" dirty="0" smtClean="0"/>
              <a:t>AI </a:t>
            </a:r>
            <a:r>
              <a:rPr lang="en-US" sz="4000" dirty="0"/>
              <a:t>can help detect threats in </a:t>
            </a:r>
            <a:r>
              <a:rPr lang="en-US" sz="4000" dirty="0" smtClean="0"/>
              <a:t>real-time</a:t>
            </a:r>
            <a:r>
              <a:rPr lang="en-US" sz="4800" dirty="0" smtClean="0"/>
              <a:t>.</a:t>
            </a:r>
            <a:endParaRPr lang="en-US" sz="4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07</a:t>
            </a:r>
          </a:p>
        </p:txBody>
      </p:sp>
      <p:sp>
        <p:nvSpPr>
          <p:cNvPr id="7" name="TextBox 7"/>
          <p:cNvSpPr txBox="1"/>
          <p:nvPr/>
        </p:nvSpPr>
        <p:spPr>
          <a:xfrm>
            <a:off x="4383474" y="841771"/>
            <a:ext cx="9937554" cy="1042951"/>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FUTURE ENHANCEMENTS</a:t>
            </a:r>
          </a:p>
        </p:txBody>
      </p:sp>
      <p:sp>
        <p:nvSpPr>
          <p:cNvPr id="8" name="TextBox 8"/>
          <p:cNvSpPr txBox="1"/>
          <p:nvPr/>
        </p:nvSpPr>
        <p:spPr>
          <a:xfrm>
            <a:off x="3596330" y="9794298"/>
            <a:ext cx="10206967"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317779"/>
          </a:xfrm>
          <a:prstGeom prst="rect">
            <a:avLst/>
          </a:prstGeom>
        </p:spPr>
        <p:txBody>
          <a:bodyPr lIns="0" tIns="0" rIns="0" bIns="0" rtlCol="0" anchor="t">
            <a:spAutoFit/>
          </a:bodyPr>
          <a:lstStyle/>
          <a:p>
            <a:pPr algn="ctr">
              <a:lnSpc>
                <a:spcPts val="2707"/>
              </a:lnSpc>
            </a:pPr>
            <a:r>
              <a:rPr lang="en-US" sz="1933" b="1" dirty="0">
                <a:solidFill>
                  <a:srgbClr val="000000"/>
                </a:solidFill>
                <a:latin typeface="Times New Roman Bold"/>
                <a:ea typeface="Times New Roman Bold"/>
                <a:cs typeface="Times New Roman Bold"/>
                <a:sym typeface="Times New Roman Bold"/>
              </a:rPr>
              <a:t>TECHDEEP</a:t>
            </a:r>
          </a:p>
        </p:txBody>
      </p:sp>
      <p:sp>
        <p:nvSpPr>
          <p:cNvPr id="10" name="TextBox 10"/>
          <p:cNvSpPr txBox="1"/>
          <p:nvPr/>
        </p:nvSpPr>
        <p:spPr>
          <a:xfrm>
            <a:off x="3596330" y="4198478"/>
            <a:ext cx="13320070" cy="3508653"/>
          </a:xfrm>
          <a:prstGeom prst="rect">
            <a:avLst/>
          </a:prstGeom>
        </p:spPr>
        <p:txBody>
          <a:bodyPr wrap="square" lIns="0" tIns="0" rIns="0" bIns="0" rtlCol="0" anchor="t">
            <a:spAutoFit/>
          </a:bodyPr>
          <a:lstStyle/>
          <a:p>
            <a:pPr lvl="8"/>
            <a:endParaRPr lang="en-US" sz="3600" dirty="0"/>
          </a:p>
          <a:p>
            <a:pPr marL="571500" indent="-571500">
              <a:buFont typeface="Wingdings" panose="05000000000000000000" pitchFamily="2" charset="2"/>
              <a:buChar char="Ø"/>
            </a:pPr>
            <a:r>
              <a:rPr lang="en-US" sz="4800" dirty="0" smtClean="0"/>
              <a:t>Safe </a:t>
            </a:r>
            <a:r>
              <a:rPr lang="en-US" sz="4800" dirty="0"/>
              <a:t>route navigation using </a:t>
            </a:r>
            <a:r>
              <a:rPr lang="en-US" sz="4800" dirty="0" smtClean="0"/>
              <a:t>AR.</a:t>
            </a:r>
            <a:endParaRPr lang="en-US" sz="4800" dirty="0"/>
          </a:p>
          <a:p>
            <a:pPr marL="571500" indent="-571500">
              <a:buFont typeface="Wingdings" panose="05000000000000000000" pitchFamily="2" charset="2"/>
              <a:buChar char="Ø"/>
            </a:pPr>
            <a:r>
              <a:rPr lang="en-US" sz="4800" dirty="0" smtClean="0"/>
              <a:t>Community-wide </a:t>
            </a:r>
            <a:r>
              <a:rPr lang="en-US" sz="4800" dirty="0"/>
              <a:t>safety </a:t>
            </a:r>
            <a:r>
              <a:rPr lang="en-US" sz="4800" dirty="0" smtClean="0"/>
              <a:t>alerts.</a:t>
            </a:r>
            <a:endParaRPr lang="en-US" sz="4800" dirty="0"/>
          </a:p>
          <a:p>
            <a:pPr marL="571500" indent="-571500">
              <a:buFont typeface="Wingdings" panose="05000000000000000000" pitchFamily="2" charset="2"/>
              <a:buChar char="Ø"/>
            </a:pPr>
            <a:r>
              <a:rPr lang="en-US" sz="4800" dirty="0" smtClean="0"/>
              <a:t>Partner </a:t>
            </a:r>
            <a:r>
              <a:rPr lang="en-US" sz="4800" dirty="0"/>
              <a:t>with transport &amp; ride </a:t>
            </a:r>
            <a:r>
              <a:rPr lang="en-US" sz="4800" dirty="0" smtClean="0"/>
              <a:t>apps.</a:t>
            </a:r>
          </a:p>
          <a:p>
            <a:pPr marL="571500" indent="-571500">
              <a:buFont typeface="Wingdings" panose="05000000000000000000" pitchFamily="2" charset="2"/>
              <a:buChar char="Ø"/>
            </a:pPr>
            <a:r>
              <a:rPr lang="en-US" sz="4800" dirty="0" smtClean="0">
                <a:solidFill>
                  <a:srgbClr val="000000"/>
                </a:solidFill>
                <a:latin typeface="+mj-lt"/>
                <a:ea typeface="Times New Roman"/>
                <a:cs typeface="Times New Roman"/>
                <a:sym typeface="Times New Roman"/>
              </a:rPr>
              <a:t>Connect with smartwatches</a:t>
            </a:r>
            <a:r>
              <a:rPr lang="en-US" sz="4000" dirty="0" smtClean="0">
                <a:solidFill>
                  <a:srgbClr val="000000"/>
                </a:solidFill>
                <a:latin typeface="+mj-lt"/>
                <a:ea typeface="Times New Roman"/>
                <a:cs typeface="Times New Roman"/>
                <a:sym typeface="Times New Roman"/>
              </a:rPr>
              <a:t>.</a:t>
            </a:r>
            <a:endParaRPr lang="en-US" sz="4000" dirty="0">
              <a:solidFill>
                <a:srgbClr val="000000"/>
              </a:solidFill>
              <a:latin typeface="+mj-lt"/>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463512"/>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327661" y="8431438"/>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xmlns="" r:embed="rId8"/>
                </a:ext>
              </a:extLst>
            </a:blip>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08</a:t>
            </a:r>
          </a:p>
        </p:txBody>
      </p:sp>
      <p:sp>
        <p:nvSpPr>
          <p:cNvPr id="7" name="TextBox 7"/>
          <p:cNvSpPr txBox="1"/>
          <p:nvPr/>
        </p:nvSpPr>
        <p:spPr>
          <a:xfrm>
            <a:off x="5644036" y="1018927"/>
            <a:ext cx="8857072" cy="1042951"/>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DEMO (IF APPLICABLE)</a:t>
            </a:r>
          </a:p>
        </p:txBody>
      </p:sp>
      <p:sp>
        <p:nvSpPr>
          <p:cNvPr id="8" name="TextBox 8"/>
          <p:cNvSpPr txBox="1"/>
          <p:nvPr/>
        </p:nvSpPr>
        <p:spPr>
          <a:xfrm>
            <a:off x="3950476" y="9794298"/>
            <a:ext cx="10387047"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317779"/>
          </a:xfrm>
          <a:prstGeom prst="rect">
            <a:avLst/>
          </a:prstGeom>
        </p:spPr>
        <p:txBody>
          <a:bodyPr lIns="0" tIns="0" rIns="0" bIns="0" rtlCol="0" anchor="t">
            <a:spAutoFit/>
          </a:bodyPr>
          <a:lstStyle/>
          <a:p>
            <a:pPr algn="ctr">
              <a:lnSpc>
                <a:spcPts val="2707"/>
              </a:lnSpc>
            </a:pPr>
            <a:r>
              <a:rPr lang="en-US" sz="1933" b="1" dirty="0">
                <a:solidFill>
                  <a:srgbClr val="000000"/>
                </a:solidFill>
                <a:latin typeface="Times New Roman Bold"/>
                <a:ea typeface="Times New Roman Bold"/>
                <a:cs typeface="Times New Roman Bold"/>
                <a:sym typeface="Times New Roman Bold"/>
              </a:rPr>
              <a:t>TECHDEEP</a:t>
            </a:r>
          </a:p>
        </p:txBody>
      </p:sp>
      <p:sp>
        <p:nvSpPr>
          <p:cNvPr id="13" name="TextBox 12"/>
          <p:cNvSpPr txBox="1"/>
          <p:nvPr/>
        </p:nvSpPr>
        <p:spPr>
          <a:xfrm>
            <a:off x="7560071" y="3293314"/>
            <a:ext cx="4657044" cy="1107996"/>
          </a:xfrm>
          <a:prstGeom prst="rect">
            <a:avLst/>
          </a:prstGeom>
          <a:noFill/>
        </p:spPr>
        <p:txBody>
          <a:bodyPr wrap="none" rtlCol="0">
            <a:spAutoFit/>
          </a:bodyPr>
          <a:lstStyle/>
          <a:p>
            <a:r>
              <a:rPr lang="en-IN" sz="6600" dirty="0" err="1" smtClean="0">
                <a:hlinkClick r:id="rId9"/>
              </a:rPr>
              <a:t>Video_Demo</a:t>
            </a:r>
            <a:endParaRPr lang="en-IN" sz="66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09</a:t>
            </a:r>
          </a:p>
        </p:txBody>
      </p:sp>
      <p:sp>
        <p:nvSpPr>
          <p:cNvPr id="7" name="TextBox 7"/>
          <p:cNvSpPr txBox="1"/>
          <p:nvPr/>
        </p:nvSpPr>
        <p:spPr>
          <a:xfrm>
            <a:off x="4119602" y="841771"/>
            <a:ext cx="10266947" cy="1042951"/>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CONCLUSION &amp; THANK YOU</a:t>
            </a:r>
          </a:p>
        </p:txBody>
      </p:sp>
      <p:sp>
        <p:nvSpPr>
          <p:cNvPr id="8" name="TextBox 8"/>
          <p:cNvSpPr txBox="1"/>
          <p:nvPr/>
        </p:nvSpPr>
        <p:spPr>
          <a:xfrm>
            <a:off x="3895355" y="9794298"/>
            <a:ext cx="10491193"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317779"/>
          </a:xfrm>
          <a:prstGeom prst="rect">
            <a:avLst/>
          </a:prstGeom>
        </p:spPr>
        <p:txBody>
          <a:bodyPr lIns="0" tIns="0" rIns="0" bIns="0" rtlCol="0" anchor="t">
            <a:spAutoFit/>
          </a:bodyPr>
          <a:lstStyle/>
          <a:p>
            <a:pPr algn="ctr">
              <a:lnSpc>
                <a:spcPts val="2707"/>
              </a:lnSpc>
            </a:pPr>
            <a:r>
              <a:rPr lang="en-US" sz="1933" b="1" dirty="0">
                <a:solidFill>
                  <a:srgbClr val="000000"/>
                </a:solidFill>
                <a:latin typeface="Times New Roman Bold"/>
                <a:ea typeface="Times New Roman Bold"/>
                <a:cs typeface="Times New Roman Bold"/>
                <a:sym typeface="Times New Roman Bold"/>
              </a:rPr>
              <a:t>TECHDEEP</a:t>
            </a:r>
          </a:p>
        </p:txBody>
      </p:sp>
      <p:sp>
        <p:nvSpPr>
          <p:cNvPr id="10" name="TextBox 10"/>
          <p:cNvSpPr txBox="1"/>
          <p:nvPr/>
        </p:nvSpPr>
        <p:spPr>
          <a:xfrm>
            <a:off x="793673" y="4455818"/>
            <a:ext cx="16579927" cy="4039567"/>
          </a:xfrm>
          <a:prstGeom prst="rect">
            <a:avLst/>
          </a:prstGeom>
        </p:spPr>
        <p:txBody>
          <a:bodyPr wrap="square" lIns="0" tIns="0" rIns="0" bIns="0" rtlCol="0" anchor="t">
            <a:spAutoFit/>
          </a:bodyPr>
          <a:lstStyle/>
          <a:p>
            <a:pPr marL="988812" lvl="1" indent="-571500">
              <a:lnSpc>
                <a:spcPts val="6301"/>
              </a:lnSpc>
              <a:buFont typeface="Wingdings" panose="05000000000000000000" pitchFamily="2" charset="2"/>
              <a:buChar char="Ø"/>
            </a:pPr>
            <a:r>
              <a:rPr lang="en-US" sz="4000" b="1" dirty="0" smtClean="0"/>
              <a:t>EVASAFE</a:t>
            </a:r>
            <a:r>
              <a:rPr lang="en-US" sz="4000" dirty="0" smtClean="0"/>
              <a:t> </a:t>
            </a:r>
            <a:r>
              <a:rPr lang="en-US" sz="4000" dirty="0"/>
              <a:t>is a simple and reliable web app that helps users stay safe during emergencies. It allows quick alerts to trusted contacts and shares live location when needed. The app aims to make personal safety easier and more accessible for everyone</a:t>
            </a:r>
            <a:r>
              <a:rPr lang="en-US" sz="4000" dirty="0" smtClean="0"/>
              <a:t>.</a:t>
            </a:r>
          </a:p>
          <a:p>
            <a:pPr marL="988812" lvl="1" indent="-571500">
              <a:lnSpc>
                <a:spcPts val="6301"/>
              </a:lnSpc>
              <a:buFont typeface="Wingdings" panose="05000000000000000000" pitchFamily="2" charset="2"/>
              <a:buChar char="Ø"/>
            </a:pPr>
            <a:endParaRPr lang="en-US" sz="3865" dirty="0">
              <a:solidFill>
                <a:srgbClr val="000000"/>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TotalTime>
  <Words>439</Words>
  <Application>Microsoft Office PowerPoint</Application>
  <PresentationFormat>Custom</PresentationFormat>
  <Paragraphs>72</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Times New Roman Bold</vt:lpstr>
      <vt:lpstr>Wingdings</vt:lpstr>
      <vt:lpstr>Calibri</vt:lpstr>
      <vt:lpstr>Poppins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Pink Gradient Modern Minimalist Computer Technology Presentation</dc:title>
  <dc:creator>Venkateshwarlu Menta</dc:creator>
  <cp:lastModifiedBy>DELL</cp:lastModifiedBy>
  <cp:revision>18</cp:revision>
  <dcterms:created xsi:type="dcterms:W3CDTF">2006-08-16T00:00:00Z</dcterms:created>
  <dcterms:modified xsi:type="dcterms:W3CDTF">2025-04-30T12:40:30Z</dcterms:modified>
  <dc:identifier>DAGmCImH0yY</dc:identifier>
</cp:coreProperties>
</file>